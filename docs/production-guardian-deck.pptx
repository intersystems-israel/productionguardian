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0A887">
              <a:alpha val="25000"/>
            </a:srgbClr>
          </a:solidFill>
          <a:ln w="12700">
            <a:solidFill>
              <a:srgbClr val="00A887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3474720"/>
            <a:ext cx="2011680" cy="2011680"/>
          </a:xfrm>
          <a:prstGeom prst="ellipse">
            <a:avLst/>
          </a:prstGeom>
          <a:solidFill>
            <a:srgbClr val="00A887">
              <a:alpha val="15000"/>
            </a:srgbClr>
          </a:solidFill>
          <a:ln w="12700">
            <a:solidFill>
              <a:srgbClr val="00A887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73152" cy="1463040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Guardian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0C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Production Health &amp; Optimization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90C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Health Connect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3017520"/>
            <a:ext cx="5029200" cy="502920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0175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On. Always Looking Out for You.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663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9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InterSystems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00A887">
              <a:alpha val="12000"/>
            </a:srgbClr>
          </a:solidFill>
          <a:ln w="12700">
            <a:solidFill>
              <a:srgbClr val="00A887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issues cost more than downtime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468880" cy="2377440"/>
          </a:xfrm>
          <a:prstGeom prst="rect">
            <a:avLst/>
          </a:prstGeom>
          <a:solidFill>
            <a:srgbClr val="233A5C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2468880" cy="64008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A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manually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triaging alerts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063240" y="1143000"/>
            <a:ext cx="2468880" cy="2377440"/>
          </a:xfrm>
          <a:prstGeom prst="rect">
            <a:avLst/>
          </a:prstGeom>
          <a:solidFill>
            <a:srgbClr val="233A5C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63240" y="1143000"/>
            <a:ext cx="2468880" cy="64008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12801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A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063240" y="2148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respond after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are impacted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0" y="1143000"/>
            <a:ext cx="2468880" cy="2377440"/>
          </a:xfrm>
          <a:prstGeom prst="rect">
            <a:avLst/>
          </a:prstGeom>
          <a:solidFill>
            <a:srgbClr val="233A5C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0" y="1143000"/>
            <a:ext cx="2468880" cy="64008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12801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A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5669280" y="2148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view of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health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840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Connect administrators need an intelligent operations companion — not more noise.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 operations expert for Health Connect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118872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Guardian continuously monitors, analyzes, and optimizes your Health Connect productions — so your integrations run at their best, every day.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126480" y="457200"/>
            <a:ext cx="2651760" cy="2651760"/>
          </a:xfrm>
          <a:prstGeom prst="ellipse">
            <a:avLst/>
          </a:prstGeom>
          <a:solidFill>
            <a:srgbClr val="00A887">
              <a:alpha val="85000"/>
            </a:srgbClr>
          </a:solidFill>
          <a:ln w="12700">
            <a:solidFill>
              <a:srgbClr val="00A887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0" y="45720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6126480" y="32004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Connect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0" y="35204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InterSystems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3840480"/>
            <a:ext cx="1691640" cy="1005840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84048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171700" y="3840480"/>
            <a:ext cx="169164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71700" y="384048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931920" y="3840480"/>
            <a:ext cx="169164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0" y="384048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92140" y="3840480"/>
            <a:ext cx="169164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92140" y="384048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452360" y="3840480"/>
            <a:ext cx="169164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52360" y="384048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intelligent capabilities.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healthy production.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2011680" cy="1783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7864" y="1170432"/>
            <a:ext cx="438912" cy="438912"/>
          </a:xfrm>
          <a:prstGeom prst="ellipse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97864" y="11704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75564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Scan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2677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C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issues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42032" y="1005840"/>
            <a:ext cx="2011680" cy="1783080"/>
          </a:xfrm>
          <a:prstGeom prst="rect">
            <a:avLst/>
          </a:prstGeom>
          <a:solidFill>
            <a:srgbClr val="233A5C"/>
          </a:solidFill>
          <a:ln w="12700">
            <a:solidFill>
              <a:srgbClr val="23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28416" y="1170432"/>
            <a:ext cx="438912" cy="438912"/>
          </a:xfrm>
          <a:prstGeom prst="ellipse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28416" y="11704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33472" y="175564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633472" y="22677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C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Quantifies health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72584" y="1005840"/>
            <a:ext cx="2011680" cy="1783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58968" y="1170432"/>
            <a:ext cx="438912" cy="438912"/>
          </a:xfrm>
          <a:prstGeom prst="ellipse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58968" y="11704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64024" y="175564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64024" y="22677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C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risks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03136" y="1005840"/>
            <a:ext cx="2011680" cy="1783080"/>
          </a:xfrm>
          <a:prstGeom prst="rect">
            <a:avLst/>
          </a:prstGeom>
          <a:solidFill>
            <a:srgbClr val="233A5C"/>
          </a:solidFill>
          <a:ln w="12700">
            <a:solidFill>
              <a:srgbClr val="23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9520" y="1170432"/>
            <a:ext cx="438912" cy="438912"/>
          </a:xfrm>
          <a:prstGeom prst="ellipse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0" y="11704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94576" y="175564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Detective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94576" y="22677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C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why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1480" y="2953512"/>
            <a:ext cx="2011680" cy="1783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97864" y="3118104"/>
            <a:ext cx="438912" cy="438912"/>
          </a:xfrm>
          <a:prstGeom prst="ellipse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97864" y="31181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" y="37033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Resolve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02920" y="421538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C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problems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42032" y="2953512"/>
            <a:ext cx="2011680" cy="1783080"/>
          </a:xfrm>
          <a:prstGeom prst="rect">
            <a:avLst/>
          </a:prstGeom>
          <a:solidFill>
            <a:srgbClr val="233A5C"/>
          </a:solidFill>
          <a:ln w="12700">
            <a:solidFill>
              <a:srgbClr val="233A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28416" y="3118104"/>
            <a:ext cx="438912" cy="438912"/>
          </a:xfrm>
          <a:prstGeom prst="ellipse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28416" y="31181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633472" y="37033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Perf. Coach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2633472" y="421538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C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efficiency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672584" y="2953512"/>
            <a:ext cx="2011680" cy="1783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58968" y="3118104"/>
            <a:ext cx="438912" cy="438912"/>
          </a:xfrm>
          <a:prstGeom prst="ellipse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58968" y="31181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764024" y="37033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Summary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764024" y="421538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C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Communicates findings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803136" y="2953512"/>
            <a:ext cx="2011680" cy="1783080"/>
          </a:xfrm>
          <a:prstGeom prst="rect">
            <a:avLst/>
          </a:prstGeom>
          <a:solidFill>
            <a:srgbClr val="233A5C"/>
          </a:solidFill>
          <a:ln w="12700">
            <a:solidFill>
              <a:srgbClr val="233A5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589520" y="3118104"/>
            <a:ext cx="438912" cy="438912"/>
          </a:xfrm>
          <a:prstGeom prst="ellipse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89520" y="31181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894576" y="37033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Guardian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894576" y="421538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C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80560" y="274320"/>
            <a:ext cx="36576" cy="457200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502920" cy="502920"/>
          </a:xfrm>
          <a:prstGeom prst="ellipse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Scan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663440" y="228600"/>
            <a:ext cx="502920" cy="502920"/>
          </a:xfrm>
          <a:prstGeom prst="ellipse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57800" y="25603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914400"/>
            <a:ext cx="3931920" cy="777240"/>
          </a:xfrm>
          <a:prstGeom prst="rect">
            <a:avLst/>
          </a:prstGeom>
          <a:solidFill>
            <a:srgbClr val="E8EEF5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914400"/>
            <a:ext cx="64008" cy="777240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98755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jobs &amp; hung processes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1874520"/>
            <a:ext cx="3931920" cy="777240"/>
          </a:xfrm>
          <a:prstGeom prst="rect">
            <a:avLst/>
          </a:prstGeom>
          <a:solidFill>
            <a:srgbClr val="E8EEF5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874520"/>
            <a:ext cx="64008" cy="777240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94767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buildup &amp; bottlenecks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2834640"/>
            <a:ext cx="3931920" cy="777240"/>
          </a:xfrm>
          <a:prstGeom prst="rect">
            <a:avLst/>
          </a:prstGeom>
          <a:solidFill>
            <a:srgbClr val="E8EEF5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834640"/>
            <a:ext cx="64008" cy="777240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90779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config issues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3794760"/>
            <a:ext cx="3931920" cy="777240"/>
          </a:xfrm>
          <a:prstGeom prst="rect">
            <a:avLst/>
          </a:prstGeom>
          <a:solidFill>
            <a:srgbClr val="E8EEF5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794760"/>
            <a:ext cx="64008" cy="777240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6791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&amp; security recommendations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937760" y="914400"/>
            <a:ext cx="1828800" cy="1828800"/>
          </a:xfrm>
          <a:prstGeom prst="ellipse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9144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5600" dirty="0"/>
          </a:p>
        </p:txBody>
      </p:sp>
      <p:sp>
        <p:nvSpPr>
          <p:cNvPr id="23" name="Text 21"/>
          <p:cNvSpPr/>
          <p:nvPr/>
        </p:nvSpPr>
        <p:spPr>
          <a:xfrm>
            <a:off x="493776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03720" y="914400"/>
            <a:ext cx="1920240" cy="777240"/>
          </a:xfrm>
          <a:prstGeom prst="rect">
            <a:avLst/>
          </a:prstGeom>
          <a:solidFill>
            <a:srgbClr val="E8EEF5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03720" y="914400"/>
            <a:ext cx="64008" cy="777240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86600" y="98755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0-100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903720" y="1874520"/>
            <a:ext cx="1920240" cy="777240"/>
          </a:xfrm>
          <a:prstGeom prst="rect">
            <a:avLst/>
          </a:prstGeom>
          <a:solidFill>
            <a:srgbClr val="E8EEF5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03720" y="1874520"/>
            <a:ext cx="64008" cy="777240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86600" y="194767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light status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903720" y="2834640"/>
            <a:ext cx="1920240" cy="777240"/>
          </a:xfrm>
          <a:prstGeom prst="rect">
            <a:avLst/>
          </a:prstGeom>
          <a:solidFill>
            <a:srgbClr val="E8EEF5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03720" y="2834640"/>
            <a:ext cx="64008" cy="777240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86600" y="290779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health factors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903720" y="3794760"/>
            <a:ext cx="1920240" cy="777240"/>
          </a:xfrm>
          <a:prstGeom prst="rect">
            <a:avLst/>
          </a:prstGeom>
          <a:solidFill>
            <a:srgbClr val="E8EEF5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903720" y="3794760"/>
            <a:ext cx="64008" cy="777240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86600" y="386791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trends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80560" y="274320"/>
            <a:ext cx="36576" cy="457200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502920" cy="502920"/>
          </a:xfrm>
          <a:prstGeom prst="ellipse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System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663440" y="228600"/>
            <a:ext cx="502920" cy="502920"/>
          </a:xfrm>
          <a:prstGeom prst="ellipse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57800" y="25603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Detective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914400"/>
            <a:ext cx="3931920" cy="777240"/>
          </a:xfrm>
          <a:prstGeom prst="rect">
            <a:avLst/>
          </a:prstGeom>
          <a:solidFill>
            <a:srgbClr val="E8EEF5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914400"/>
            <a:ext cx="64008" cy="777240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98755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growth predictions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1874520"/>
            <a:ext cx="3931920" cy="777240"/>
          </a:xfrm>
          <a:prstGeom prst="rect">
            <a:avLst/>
          </a:prstGeom>
          <a:solidFill>
            <a:srgbClr val="E8EEF5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874520"/>
            <a:ext cx="64008" cy="777240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94767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&amp; capacity risks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2834640"/>
            <a:ext cx="3931920" cy="777240"/>
          </a:xfrm>
          <a:prstGeom prst="rect">
            <a:avLst/>
          </a:prstGeom>
          <a:solidFill>
            <a:srgbClr val="E8EEF5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834640"/>
            <a:ext cx="64008" cy="777240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90779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&amp; performance risks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3794760"/>
            <a:ext cx="3931920" cy="777240"/>
          </a:xfrm>
          <a:prstGeom prst="rect">
            <a:avLst/>
          </a:prstGeom>
          <a:solidFill>
            <a:srgbClr val="E8EEF5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794760"/>
            <a:ext cx="64008" cy="777240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6791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notifications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63440" y="914400"/>
            <a:ext cx="4206240" cy="777240"/>
          </a:xfrm>
          <a:prstGeom prst="rect">
            <a:avLst/>
          </a:prstGeom>
          <a:solidFill>
            <a:srgbClr val="E8EEF5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914400"/>
            <a:ext cx="64008" cy="777240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98755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Correlates logs, alerts &amp; metrics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663440" y="1874520"/>
            <a:ext cx="4206240" cy="777240"/>
          </a:xfrm>
          <a:prstGeom prst="rect">
            <a:avLst/>
          </a:prstGeom>
          <a:solidFill>
            <a:srgbClr val="E8EEF5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1874520"/>
            <a:ext cx="64008" cy="777240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94767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root causes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663440" y="2834640"/>
            <a:ext cx="4206240" cy="777240"/>
          </a:xfrm>
          <a:prstGeom prst="rect">
            <a:avLst/>
          </a:prstGeom>
          <a:solidFill>
            <a:srgbClr val="E8EEF5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2834640"/>
            <a:ext cx="64008" cy="777240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90779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impact &amp; context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663440" y="3794760"/>
            <a:ext cx="4206240" cy="777240"/>
          </a:xfrm>
          <a:prstGeom prst="rect">
            <a:avLst/>
          </a:prstGeom>
          <a:solidFill>
            <a:srgbClr val="E8EEF5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3794760"/>
            <a:ext cx="64008" cy="777240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86791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investigation time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80560" y="274320"/>
            <a:ext cx="36576" cy="457200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502920" cy="502920"/>
          </a:xfrm>
          <a:prstGeom prst="ellipse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Resolve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663440" y="228600"/>
            <a:ext cx="502920" cy="502920"/>
          </a:xfrm>
          <a:prstGeom prst="ellipse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57800" y="25603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Coach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914400"/>
            <a:ext cx="3931920" cy="777240"/>
          </a:xfrm>
          <a:prstGeom prst="rect">
            <a:avLst/>
          </a:prstGeom>
          <a:solidFill>
            <a:srgbClr val="E8EEF5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914400"/>
            <a:ext cx="64008" cy="777240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98755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jobs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1874520"/>
            <a:ext cx="3931920" cy="777240"/>
          </a:xfrm>
          <a:prstGeom prst="rect">
            <a:avLst/>
          </a:prstGeom>
          <a:solidFill>
            <a:srgbClr val="E8EEF5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874520"/>
            <a:ext cx="64008" cy="777240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94767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settings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2834640"/>
            <a:ext cx="3931920" cy="777240"/>
          </a:xfrm>
          <a:prstGeom prst="rect">
            <a:avLst/>
          </a:prstGeom>
          <a:solidFill>
            <a:srgbClr val="E8EEF5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834640"/>
            <a:ext cx="64008" cy="777240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90779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pools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3794760"/>
            <a:ext cx="3931920" cy="777240"/>
          </a:xfrm>
          <a:prstGeom prst="rect">
            <a:avLst/>
          </a:prstGeom>
          <a:solidFill>
            <a:srgbClr val="E8EEF5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794760"/>
            <a:ext cx="64008" cy="777240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6791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best practices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63440" y="914400"/>
            <a:ext cx="4206240" cy="777240"/>
          </a:xfrm>
          <a:prstGeom prst="rect">
            <a:avLst/>
          </a:prstGeom>
          <a:solidFill>
            <a:srgbClr val="E8EEF5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914400"/>
            <a:ext cx="64008" cy="777240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98755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throughput &amp; latency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663440" y="1874520"/>
            <a:ext cx="4206240" cy="777240"/>
          </a:xfrm>
          <a:prstGeom prst="rect">
            <a:avLst/>
          </a:prstGeom>
          <a:solidFill>
            <a:srgbClr val="E8EEF5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1874520"/>
            <a:ext cx="64008" cy="777240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94767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configuration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663440" y="2834640"/>
            <a:ext cx="4206240" cy="777240"/>
          </a:xfrm>
          <a:prstGeom prst="rect">
            <a:avLst/>
          </a:prstGeom>
          <a:solidFill>
            <a:srgbClr val="E8EEF5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2834640"/>
            <a:ext cx="64008" cy="777240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90779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 resources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663440" y="3794760"/>
            <a:ext cx="4206240" cy="777240"/>
          </a:xfrm>
          <a:prstGeom prst="rect">
            <a:avLst/>
          </a:prstGeom>
          <a:solidFill>
            <a:srgbClr val="E8EEF5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3794760"/>
            <a:ext cx="64008" cy="777240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86791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efficiency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80560" y="274320"/>
            <a:ext cx="36576" cy="457200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502920" cy="502920"/>
          </a:xfrm>
          <a:prstGeom prst="ellipse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Summary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663440" y="228600"/>
            <a:ext cx="502920" cy="502920"/>
          </a:xfrm>
          <a:prstGeom prst="ellipse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57800" y="25603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Guardian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914400"/>
            <a:ext cx="3931920" cy="777240"/>
          </a:xfrm>
          <a:prstGeom prst="rect">
            <a:avLst/>
          </a:prstGeom>
          <a:solidFill>
            <a:srgbClr val="E8EEF5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914400"/>
            <a:ext cx="64008" cy="777240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98755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Daily, weekly &amp; executive summaries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1874520"/>
            <a:ext cx="3931920" cy="777240"/>
          </a:xfrm>
          <a:prstGeom prst="rect">
            <a:avLst/>
          </a:prstGeom>
          <a:solidFill>
            <a:srgbClr val="E8EEF5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874520"/>
            <a:ext cx="64008" cy="777240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94767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Issues, trends &amp; SLA performance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2834640"/>
            <a:ext cx="3931920" cy="777240"/>
          </a:xfrm>
          <a:prstGeom prst="rect">
            <a:avLst/>
          </a:prstGeom>
          <a:solidFill>
            <a:srgbClr val="E8EEF5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834640"/>
            <a:ext cx="64008" cy="777240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90779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applied &amp; improvements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1097280"/>
            <a:ext cx="4114800" cy="777240"/>
          </a:xfrm>
          <a:prstGeom prst="rect">
            <a:avLst/>
          </a:prstGeom>
          <a:solidFill>
            <a:srgbClr val="E2EE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1161288"/>
            <a:ext cx="347472" cy="34747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1161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38928" y="1143000"/>
            <a:ext cx="35661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is Lab Router slow?"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2011680"/>
            <a:ext cx="4114800" cy="1417320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2075688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2075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38928" y="2029968"/>
            <a:ext cx="3520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grew 34% in 18 minutes due to job shortage.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Recommend: increase pool size from 8 to 12 jobs.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663440" y="35661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interface — ask anything about your production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731520"/>
            <a:ext cx="2560320" cy="2560320"/>
          </a:xfrm>
          <a:prstGeom prst="ellipse">
            <a:avLst/>
          </a:prstGeom>
          <a:solidFill>
            <a:srgbClr val="00A887">
              <a:alpha val="18000"/>
            </a:srgbClr>
          </a:solidFill>
          <a:ln w="12700">
            <a:solidFill>
              <a:srgbClr val="00A887">
                <a:alpha val="1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Production Guardian Advantage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1691640"/>
          </a:xfrm>
          <a:prstGeom prst="rect">
            <a:avLst/>
          </a:prstGeom>
          <a:solidFill>
            <a:srgbClr val="233A5C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64008" cy="1691640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43000" y="1188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Protection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166420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prevent issues before they impact your business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023360" cy="1691640"/>
          </a:xfrm>
          <a:prstGeom prst="rect">
            <a:avLst/>
          </a:prstGeom>
          <a:solidFill>
            <a:srgbClr val="233A5C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005840"/>
            <a:ext cx="64008" cy="1691640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1234440"/>
            <a:ext cx="457200" cy="457200"/>
          </a:xfrm>
          <a:prstGeom prst="ellipse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32120" y="1188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Resolution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32120" y="166420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insights and automated fixes reduce MTTR dramatically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880360"/>
            <a:ext cx="4023360" cy="1691640"/>
          </a:xfrm>
          <a:prstGeom prst="rect">
            <a:avLst/>
          </a:prstGeom>
          <a:solidFill>
            <a:srgbClr val="233A5C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880360"/>
            <a:ext cx="64008" cy="1691640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108960"/>
            <a:ext cx="457200" cy="457200"/>
          </a:xfrm>
          <a:prstGeom prst="ellipse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" y="3063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Performance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43000" y="353872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optimization keeps your production running at peak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2880360"/>
            <a:ext cx="4023360" cy="1691640"/>
          </a:xfrm>
          <a:prstGeom prst="rect">
            <a:avLst/>
          </a:prstGeom>
          <a:solidFill>
            <a:srgbClr val="233A5C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2880360"/>
            <a:ext cx="64008" cy="1691640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37760" y="3108960"/>
            <a:ext cx="457200" cy="457200"/>
          </a:xfrm>
          <a:prstGeom prst="ellipse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32120" y="3063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Excellence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532120" y="353872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 your team with expert guidance available 24/7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926080"/>
            <a:ext cx="3657600" cy="3657600"/>
          </a:xfrm>
          <a:prstGeom prst="ellipse">
            <a:avLst/>
          </a:prstGeom>
          <a:solidFill>
            <a:srgbClr val="00A887">
              <a:alpha val="15000"/>
            </a:srgbClr>
          </a:solidFill>
          <a:ln w="12700">
            <a:solidFill>
              <a:srgbClr val="00A887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200400" cy="3200400"/>
          </a:xfrm>
          <a:prstGeom prst="ellipse">
            <a:avLst/>
          </a:prstGeom>
          <a:solidFill>
            <a:srgbClr val="00A887">
              <a:alpha val="20000"/>
            </a:srgbClr>
          </a:solidFill>
          <a:ln w="12700">
            <a:solidFill>
              <a:srgbClr val="00A887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783080"/>
            <a:ext cx="8229600" cy="73152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200400"/>
            <a:ext cx="8229600" cy="73152"/>
          </a:xfrm>
          <a:prstGeom prst="rect">
            <a:avLst/>
          </a:prstGeom>
          <a:solidFill>
            <a:srgbClr val="2A4570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20040"/>
            <a:ext cx="8229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productions.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teams. Better outcomes.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0C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Guardian is built natively for InterSystems Health Connect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0C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designed to help you get the most from your investment.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0" y="3429000"/>
            <a:ext cx="3657600" cy="594360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34290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More at intersystems.com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InterSystems  |  Production Guardian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2026-07-30T18:00:05Z</dcterms:created>
  <dcterms:modified xsi:type="dcterms:W3CDTF">2026-07-30T18:00:05Z</dcterms:modified>
</cp:coreProperties>
</file>